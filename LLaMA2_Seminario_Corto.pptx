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9" r:id="rId4"/>
    <p:sldId id="260" r:id="rId5"/>
    <p:sldId id="262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D072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1090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903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5BAB5-FB7B-5B33-1D48-0ABD9BD3F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9943B-F476-F5F3-9417-7BDDFAB0B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F5EEF-1159-AA2E-2D7E-FAD3A251E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33B26-5631-75A1-A6C1-CFDEE95C5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70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78E1-685F-D79F-B5CF-3AF80989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00D87-79ED-BA2C-6AF0-5F39B3D4B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EEF06-DADD-F82F-053B-47D65853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10423-1C17-8918-339F-95344BAE9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43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78E1-685F-D79F-B5CF-3AF80989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00D87-79ED-BA2C-6AF0-5F39B3D4B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EEF06-DADD-F82F-053B-47D65853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10423-1C17-8918-339F-95344BAE9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15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78E1-685F-D79F-B5CF-3AF80989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00D87-79ED-BA2C-6AF0-5F39B3D4B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EEF06-DADD-F82F-053B-47D65853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10423-1C17-8918-339F-95344BAE9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30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78E1-685F-D79F-B5CF-3AF80989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00D87-79ED-BA2C-6AF0-5F39B3D4B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EEF06-DADD-F82F-053B-47D65853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10423-1C17-8918-339F-95344BAE9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31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78E1-685F-D79F-B5CF-3AF80989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00D87-79ED-BA2C-6AF0-5F39B3D4B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EEF06-DADD-F82F-053B-47D65853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10423-1C17-8918-339F-95344BAE9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42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78E1-685F-D79F-B5CF-3AF80989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00D87-79ED-BA2C-6AF0-5F39B3D4B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EEF06-DADD-F82F-053B-47D65853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10423-1C17-8918-339F-95344BAE9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53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78E1-685F-D79F-B5CF-3AF80989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00D87-79ED-BA2C-6AF0-5F39B3D4B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EEF06-DADD-F82F-053B-47D65853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10423-1C17-8918-339F-95344BAE9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473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7772400" y="365760"/>
            <a:ext cx="1645920" cy="1645920"/>
          </a:xfrm>
          <a:prstGeom prst="ellipse">
            <a:avLst/>
          </a:prstGeom>
          <a:solidFill>
            <a:srgbClr val="1877F2">
              <a:alpha val="25000"/>
            </a:srgbClr>
          </a:solidFill>
          <a:ln w="12700">
            <a:solidFill>
              <a:srgbClr val="1877F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2011680" cy="2011680"/>
          </a:xfrm>
          <a:prstGeom prst="ellipse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LLaMA 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Meta 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114800" cy="45720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· Julio 2023 · Open Weights · 7B – 70B parámetros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· IA Generativa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33375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D2240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92608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955280" y="8229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4548"/>
            <a:ext cx="9144000" cy="18588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19456" y="27344"/>
            <a:ext cx="3367806" cy="88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LLaMA 2?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701386" y="119356"/>
            <a:ext cx="5424326" cy="159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b="1" dirty="0" err="1">
                <a:solidFill>
                  <a:schemeClr val="bg1"/>
                </a:solidFill>
              </a:rPr>
              <a:t>LLaMA</a:t>
            </a:r>
            <a:r>
              <a:rPr lang="es-ES" sz="1400" b="1" dirty="0">
                <a:solidFill>
                  <a:schemeClr val="bg1"/>
                </a:solidFill>
              </a:rPr>
              <a:t> 2</a:t>
            </a:r>
            <a:r>
              <a:rPr lang="es-ES" sz="1400" dirty="0">
                <a:solidFill>
                  <a:schemeClr val="bg1"/>
                </a:solidFill>
              </a:rPr>
              <a:t> es una colección de modelos de lenguaje de inteligencia artificial desarrollada por Meta y lanzada en julio de 2023</a:t>
            </a:r>
            <a:r>
              <a:rPr lang="es-ES" sz="1400" b="1" dirty="0">
                <a:solidFill>
                  <a:schemeClr val="bg1"/>
                </a:solidFill>
              </a:rPr>
              <a:t>.  Es </a:t>
            </a:r>
            <a:r>
              <a:rPr lang="es-ES" sz="1400" dirty="0">
                <a:solidFill>
                  <a:schemeClr val="bg1"/>
                </a:solidFill>
              </a:rPr>
              <a:t>un modelo de lenguaje que puede: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</a:rPr>
              <a:t>Generar texto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</a:rPr>
              <a:t>Responder preguntas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</a:rPr>
              <a:t>Resumir información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</a:rPr>
              <a:t>Mantener conversaciones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sz="1400" dirty="0">
                <a:solidFill>
                  <a:schemeClr val="bg1"/>
                </a:solidFill>
              </a:rPr>
              <a:t>Programación</a:t>
            </a:r>
          </a:p>
        </p:txBody>
      </p:sp>
      <p:sp>
        <p:nvSpPr>
          <p:cNvPr id="13" name="Shape 10"/>
          <p:cNvSpPr/>
          <p:nvPr/>
        </p:nvSpPr>
        <p:spPr>
          <a:xfrm>
            <a:off x="2365666" y="2587507"/>
            <a:ext cx="2029968" cy="24724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4" name="Shape 11"/>
          <p:cNvSpPr/>
          <p:nvPr/>
        </p:nvSpPr>
        <p:spPr>
          <a:xfrm>
            <a:off x="2365666" y="2508859"/>
            <a:ext cx="2029968" cy="640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958" y="2654769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86416" y="3358195"/>
            <a:ext cx="1883664" cy="1089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77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7B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877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13B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877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70B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003812" y="3499576"/>
            <a:ext cx="1318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</a:t>
            </a:r>
            <a:r>
              <a:rPr lang="en-US" sz="1100" i="1" dirty="0" err="1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</a:t>
            </a:r>
            <a:r>
              <a:rPr lang="en-US" sz="11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i="1" dirty="0" err="1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</a:t>
            </a:r>
            <a:r>
              <a:rPr lang="en-US" sz="11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415958" y="4280041"/>
            <a:ext cx="1632556" cy="57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70B usa Grouped-Query Attention (GQA) para mayor eficiencia.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99264" y="2508858"/>
            <a:ext cx="2100658" cy="255113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1"/>
          <p:cNvSpPr/>
          <p:nvPr/>
        </p:nvSpPr>
        <p:spPr>
          <a:xfrm>
            <a:off x="4608408" y="2501121"/>
            <a:ext cx="2100658" cy="67980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559" y="2587681"/>
            <a:ext cx="466151" cy="46615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681559" y="2941088"/>
            <a:ext cx="1949259" cy="534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77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4743721" y="3522039"/>
            <a:ext cx="1811744" cy="1240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ES" sz="1050" dirty="0">
                <a:solidFill>
                  <a:schemeClr val="bg2">
                    <a:lumMod val="50000"/>
                  </a:schemeClr>
                </a:solidFill>
              </a:rPr>
              <a:t>Si, es un modelo </a:t>
            </a:r>
            <a:r>
              <a:rPr lang="es-ES" sz="1050" b="1" dirty="0">
                <a:solidFill>
                  <a:schemeClr val="bg2">
                    <a:lumMod val="50000"/>
                  </a:schemeClr>
                </a:solidFill>
              </a:rPr>
              <a:t>open-</a:t>
            </a:r>
            <a:r>
              <a:rPr lang="es-ES" sz="1050" b="1" dirty="0" err="1">
                <a:solidFill>
                  <a:schemeClr val="bg2">
                    <a:lumMod val="50000"/>
                  </a:schemeClr>
                </a:solidFill>
              </a:rPr>
              <a:t>source</a:t>
            </a:r>
            <a:r>
              <a:rPr lang="es-ES" sz="1050" dirty="0">
                <a:solidFill>
                  <a:schemeClr val="bg2">
                    <a:lumMod val="50000"/>
                  </a:schemeClr>
                </a:solidFill>
              </a:rPr>
              <a:t>, lo que significa que su código y pesos son públicos. Esto permite que investigadores y desarrolladores puedan usarlo y experimentar con él libremente, incluso para proyectos comerciales.</a:t>
            </a:r>
            <a:endParaRPr lang="en-US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30" name="Picture 6" descr="Fine-Tuning Llama 2: Your Path to Medical Text Perfection | by Keval  Dekivadiya | Medium">
            <a:extLst>
              <a:ext uri="{FF2B5EF4-FFF2-40B4-BE49-F238E27FC236}">
                <a16:creationId xmlns:a16="http://schemas.microsoft.com/office/drawing/2014/main" id="{B3848770-3E0A-5F40-1F17-D3C585341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801" y="652803"/>
            <a:ext cx="1456622" cy="81570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 13">
            <a:extLst>
              <a:ext uri="{FF2B5EF4-FFF2-40B4-BE49-F238E27FC236}">
                <a16:creationId xmlns:a16="http://schemas.microsoft.com/office/drawing/2014/main" id="{D68E05F8-08A5-C84B-FC5C-0717477A12E0}"/>
              </a:ext>
            </a:extLst>
          </p:cNvPr>
          <p:cNvSpPr/>
          <p:nvPr/>
        </p:nvSpPr>
        <p:spPr>
          <a:xfrm>
            <a:off x="3021573" y="3737630"/>
            <a:ext cx="1245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Intemerdio</a:t>
            </a:r>
            <a:r>
              <a:rPr lang="en-US" sz="10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2323F70-6323-ABA6-9FCC-7280E0B08F54}"/>
              </a:ext>
            </a:extLst>
          </p:cNvPr>
          <p:cNvSpPr/>
          <p:nvPr/>
        </p:nvSpPr>
        <p:spPr>
          <a:xfrm>
            <a:off x="3003812" y="3997923"/>
            <a:ext cx="1245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grande y </a:t>
            </a:r>
            <a:r>
              <a:rPr lang="en-US" sz="1100" i="1" dirty="0" err="1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</a:t>
            </a:r>
            <a:r>
              <a:rPr lang="en-US" sz="110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AD59C913-F499-AB69-2614-462318A138BA}"/>
              </a:ext>
            </a:extLst>
          </p:cNvPr>
          <p:cNvSpPr/>
          <p:nvPr/>
        </p:nvSpPr>
        <p:spPr>
          <a:xfrm>
            <a:off x="2509336" y="1921070"/>
            <a:ext cx="1781142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1400" b="1" dirty="0">
                <a:solidFill>
                  <a:schemeClr val="accent1"/>
                </a:solidFill>
              </a:rPr>
              <a:t>¿Por qué es una “Familia” de modelos?</a:t>
            </a: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D24EC225-7624-1545-4A22-2CEF0549F534}"/>
              </a:ext>
            </a:extLst>
          </p:cNvPr>
          <p:cNvSpPr/>
          <p:nvPr/>
        </p:nvSpPr>
        <p:spPr>
          <a:xfrm>
            <a:off x="2823042" y="2600652"/>
            <a:ext cx="1499616" cy="757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Porque no es uno solo. Tiene </a:t>
            </a:r>
            <a:r>
              <a:rPr lang="es-ES" sz="1400" b="1" dirty="0">
                <a:solidFill>
                  <a:schemeClr val="bg2">
                    <a:lumMod val="50000"/>
                  </a:schemeClr>
                </a:solidFill>
              </a:rPr>
              <a:t>tres tamaños diferentes</a:t>
            </a:r>
            <a:r>
              <a:rPr lang="es-ES" sz="1400"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5E1D0AD1-ADAE-6462-0F7E-C30185F6C384}"/>
              </a:ext>
            </a:extLst>
          </p:cNvPr>
          <p:cNvSpPr/>
          <p:nvPr/>
        </p:nvSpPr>
        <p:spPr>
          <a:xfrm>
            <a:off x="4838588" y="1847947"/>
            <a:ext cx="1665262" cy="696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1400" b="1" dirty="0">
                <a:solidFill>
                  <a:schemeClr val="accent1"/>
                </a:solidFill>
              </a:rPr>
              <a:t>¿ </a:t>
            </a:r>
            <a:r>
              <a:rPr lang="es-ES" sz="1400" b="1" dirty="0" err="1">
                <a:solidFill>
                  <a:schemeClr val="accent1"/>
                </a:solidFill>
              </a:rPr>
              <a:t>LLaMA</a:t>
            </a:r>
            <a:r>
              <a:rPr lang="es-ES" sz="1400" b="1" dirty="0">
                <a:solidFill>
                  <a:schemeClr val="accent1"/>
                </a:solidFill>
              </a:rPr>
              <a:t> 2 Es un modelo Open-</a:t>
            </a:r>
            <a:r>
              <a:rPr lang="es-ES" sz="1400" b="1" dirty="0" err="1">
                <a:solidFill>
                  <a:schemeClr val="accent1"/>
                </a:solidFill>
              </a:rPr>
              <a:t>Source</a:t>
            </a:r>
            <a:r>
              <a:rPr lang="es-ES" sz="1400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1047" name="Shape 12">
            <a:extLst>
              <a:ext uri="{FF2B5EF4-FFF2-40B4-BE49-F238E27FC236}">
                <a16:creationId xmlns:a16="http://schemas.microsoft.com/office/drawing/2014/main" id="{A29F50DB-0926-E5D0-C1D8-270AE8B89D62}"/>
              </a:ext>
            </a:extLst>
          </p:cNvPr>
          <p:cNvSpPr/>
          <p:nvPr/>
        </p:nvSpPr>
        <p:spPr>
          <a:xfrm>
            <a:off x="7142876" y="2528374"/>
            <a:ext cx="201168" cy="201168"/>
          </a:xfrm>
          <a:prstGeom prst="ellipse">
            <a:avLst/>
          </a:prstGeom>
          <a:solidFill>
            <a:srgbClr val="7A8BA6"/>
          </a:solidFill>
          <a:ln w="12700">
            <a:solidFill>
              <a:srgbClr val="7A8BA6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48" name="Shape 13">
            <a:extLst>
              <a:ext uri="{FF2B5EF4-FFF2-40B4-BE49-F238E27FC236}">
                <a16:creationId xmlns:a16="http://schemas.microsoft.com/office/drawing/2014/main" id="{51CB337D-6AA7-8289-81E8-3BFFB8D403DA}"/>
              </a:ext>
            </a:extLst>
          </p:cNvPr>
          <p:cNvSpPr/>
          <p:nvPr/>
        </p:nvSpPr>
        <p:spPr>
          <a:xfrm>
            <a:off x="7223240" y="2713075"/>
            <a:ext cx="47651" cy="253702"/>
          </a:xfrm>
          <a:prstGeom prst="rect">
            <a:avLst/>
          </a:prstGeom>
          <a:solidFill>
            <a:srgbClr val="7A8BA6"/>
          </a:solidFill>
          <a:ln w="12700">
            <a:solidFill>
              <a:srgbClr val="7A8B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9" name="Text 14">
            <a:extLst>
              <a:ext uri="{FF2B5EF4-FFF2-40B4-BE49-F238E27FC236}">
                <a16:creationId xmlns:a16="http://schemas.microsoft.com/office/drawing/2014/main" id="{111933F5-8B7B-C218-D3F1-967D3E8C3FF8}"/>
              </a:ext>
            </a:extLst>
          </p:cNvPr>
          <p:cNvSpPr/>
          <p:nvPr/>
        </p:nvSpPr>
        <p:spPr>
          <a:xfrm>
            <a:off x="7424407" y="243169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2023</a:t>
            </a:r>
            <a:endParaRPr lang="en-US" sz="1000" dirty="0"/>
          </a:p>
        </p:txBody>
      </p:sp>
      <p:sp>
        <p:nvSpPr>
          <p:cNvPr id="1050" name="Text 15">
            <a:extLst>
              <a:ext uri="{FF2B5EF4-FFF2-40B4-BE49-F238E27FC236}">
                <a16:creationId xmlns:a16="http://schemas.microsoft.com/office/drawing/2014/main" id="{5DC46939-0615-9F5F-27F5-EA47D3AC380C}"/>
              </a:ext>
            </a:extLst>
          </p:cNvPr>
          <p:cNvSpPr/>
          <p:nvPr/>
        </p:nvSpPr>
        <p:spPr>
          <a:xfrm>
            <a:off x="8027732" y="242673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1</a:t>
            </a:r>
            <a:endParaRPr lang="en-US" sz="1100" dirty="0"/>
          </a:p>
        </p:txBody>
      </p:sp>
      <p:sp>
        <p:nvSpPr>
          <p:cNvPr id="1051" name="Shape 17">
            <a:extLst>
              <a:ext uri="{FF2B5EF4-FFF2-40B4-BE49-F238E27FC236}">
                <a16:creationId xmlns:a16="http://schemas.microsoft.com/office/drawing/2014/main" id="{FE887BD1-A8B3-AEFA-2737-73DD8CF2FF1D}"/>
              </a:ext>
            </a:extLst>
          </p:cNvPr>
          <p:cNvSpPr/>
          <p:nvPr/>
        </p:nvSpPr>
        <p:spPr>
          <a:xfrm>
            <a:off x="7159232" y="2977054"/>
            <a:ext cx="201168" cy="201168"/>
          </a:xfrm>
          <a:prstGeom prst="ellipse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2" name="Shape 18">
            <a:extLst>
              <a:ext uri="{FF2B5EF4-FFF2-40B4-BE49-F238E27FC236}">
                <a16:creationId xmlns:a16="http://schemas.microsoft.com/office/drawing/2014/main" id="{6F6B6BEB-0C5C-64E4-FC97-2E4E9C43512B}"/>
              </a:ext>
            </a:extLst>
          </p:cNvPr>
          <p:cNvSpPr/>
          <p:nvPr/>
        </p:nvSpPr>
        <p:spPr>
          <a:xfrm>
            <a:off x="7243460" y="3135314"/>
            <a:ext cx="45719" cy="292609"/>
          </a:xfrm>
          <a:prstGeom prst="rect">
            <a:avLst/>
          </a:prstGeom>
          <a:solidFill>
            <a:srgbClr val="7A8BA6"/>
          </a:solidFill>
          <a:ln w="12700">
            <a:solidFill>
              <a:srgbClr val="7A8B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3" name="Text 19">
            <a:extLst>
              <a:ext uri="{FF2B5EF4-FFF2-40B4-BE49-F238E27FC236}">
                <a16:creationId xmlns:a16="http://schemas.microsoft.com/office/drawing/2014/main" id="{8FA06E91-546D-06CC-2531-2BC36DA8C744}"/>
              </a:ext>
            </a:extLst>
          </p:cNvPr>
          <p:cNvSpPr/>
          <p:nvPr/>
        </p:nvSpPr>
        <p:spPr>
          <a:xfrm>
            <a:off x="7446913" y="2940441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2023</a:t>
            </a:r>
            <a:endParaRPr lang="en-US" sz="1000" dirty="0"/>
          </a:p>
        </p:txBody>
      </p:sp>
      <p:sp>
        <p:nvSpPr>
          <p:cNvPr id="1054" name="Text 20">
            <a:extLst>
              <a:ext uri="{FF2B5EF4-FFF2-40B4-BE49-F238E27FC236}">
                <a16:creationId xmlns:a16="http://schemas.microsoft.com/office/drawing/2014/main" id="{A8940AA7-4BA2-F8E9-BF46-C556596C9EBF}"/>
              </a:ext>
            </a:extLst>
          </p:cNvPr>
          <p:cNvSpPr/>
          <p:nvPr/>
        </p:nvSpPr>
        <p:spPr>
          <a:xfrm>
            <a:off x="8025622" y="291047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 ★</a:t>
            </a:r>
            <a:endParaRPr lang="en-US" sz="1100" dirty="0"/>
          </a:p>
        </p:txBody>
      </p:sp>
      <p:sp>
        <p:nvSpPr>
          <p:cNvPr id="1055" name="Shape 22">
            <a:extLst>
              <a:ext uri="{FF2B5EF4-FFF2-40B4-BE49-F238E27FC236}">
                <a16:creationId xmlns:a16="http://schemas.microsoft.com/office/drawing/2014/main" id="{77DB5973-6D99-1377-4EFE-4B7724A9B16D}"/>
              </a:ext>
            </a:extLst>
          </p:cNvPr>
          <p:cNvSpPr/>
          <p:nvPr/>
        </p:nvSpPr>
        <p:spPr>
          <a:xfrm>
            <a:off x="7167146" y="3438200"/>
            <a:ext cx="201168" cy="201168"/>
          </a:xfrm>
          <a:prstGeom prst="ellipse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6" name="Shape 23">
            <a:extLst>
              <a:ext uri="{FF2B5EF4-FFF2-40B4-BE49-F238E27FC236}">
                <a16:creationId xmlns:a16="http://schemas.microsoft.com/office/drawing/2014/main" id="{1B7A710F-C73B-F936-47C3-80990EFA6583}"/>
              </a:ext>
            </a:extLst>
          </p:cNvPr>
          <p:cNvSpPr/>
          <p:nvPr/>
        </p:nvSpPr>
        <p:spPr>
          <a:xfrm>
            <a:off x="7244871" y="3634051"/>
            <a:ext cx="45719" cy="271506"/>
          </a:xfrm>
          <a:prstGeom prst="rect">
            <a:avLst/>
          </a:prstGeom>
          <a:solidFill>
            <a:srgbClr val="7A8BA6"/>
          </a:solidFill>
          <a:ln w="12700">
            <a:solidFill>
              <a:srgbClr val="7A8B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57" name="Text 24">
            <a:extLst>
              <a:ext uri="{FF2B5EF4-FFF2-40B4-BE49-F238E27FC236}">
                <a16:creationId xmlns:a16="http://schemas.microsoft.com/office/drawing/2014/main" id="{E7A56AE3-4D4E-4935-A943-551E90832DB1}"/>
              </a:ext>
            </a:extLst>
          </p:cNvPr>
          <p:cNvSpPr/>
          <p:nvPr/>
        </p:nvSpPr>
        <p:spPr>
          <a:xfrm>
            <a:off x="7434518" y="3342333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2023</a:t>
            </a:r>
            <a:endParaRPr lang="en-US" sz="1000" dirty="0"/>
          </a:p>
        </p:txBody>
      </p:sp>
      <p:sp>
        <p:nvSpPr>
          <p:cNvPr id="1058" name="Text 25">
            <a:extLst>
              <a:ext uri="{FF2B5EF4-FFF2-40B4-BE49-F238E27FC236}">
                <a16:creationId xmlns:a16="http://schemas.microsoft.com/office/drawing/2014/main" id="{FD6B9819-2E21-401D-5789-24BBE2B22EE0}"/>
              </a:ext>
            </a:extLst>
          </p:cNvPr>
          <p:cNvSpPr/>
          <p:nvPr/>
        </p:nvSpPr>
        <p:spPr>
          <a:xfrm>
            <a:off x="8025622" y="3342333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LLaMA</a:t>
            </a:r>
            <a:endParaRPr lang="en-US" sz="1100" dirty="0"/>
          </a:p>
        </p:txBody>
      </p:sp>
      <p:sp>
        <p:nvSpPr>
          <p:cNvPr id="1059" name="Shape 27">
            <a:extLst>
              <a:ext uri="{FF2B5EF4-FFF2-40B4-BE49-F238E27FC236}">
                <a16:creationId xmlns:a16="http://schemas.microsoft.com/office/drawing/2014/main" id="{211A3DB1-1AF8-10EB-768F-DB8412497EFD}"/>
              </a:ext>
            </a:extLst>
          </p:cNvPr>
          <p:cNvSpPr/>
          <p:nvPr/>
        </p:nvSpPr>
        <p:spPr>
          <a:xfrm>
            <a:off x="7184023" y="3881641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60" name="Shape 28">
            <a:extLst>
              <a:ext uri="{FF2B5EF4-FFF2-40B4-BE49-F238E27FC236}">
                <a16:creationId xmlns:a16="http://schemas.microsoft.com/office/drawing/2014/main" id="{C239D80C-0903-43A2-D132-32F8573FE0BA}"/>
              </a:ext>
            </a:extLst>
          </p:cNvPr>
          <p:cNvSpPr/>
          <p:nvPr/>
        </p:nvSpPr>
        <p:spPr>
          <a:xfrm>
            <a:off x="7259816" y="4063817"/>
            <a:ext cx="45719" cy="320041"/>
          </a:xfrm>
          <a:prstGeom prst="rect">
            <a:avLst/>
          </a:prstGeom>
          <a:solidFill>
            <a:srgbClr val="7A8BA6"/>
          </a:solidFill>
          <a:ln w="12700">
            <a:solidFill>
              <a:srgbClr val="7A8B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61" name="Text 29">
            <a:extLst>
              <a:ext uri="{FF2B5EF4-FFF2-40B4-BE49-F238E27FC236}">
                <a16:creationId xmlns:a16="http://schemas.microsoft.com/office/drawing/2014/main" id="{153D975A-71B0-DFFA-6C9E-1B214E0D12CA}"/>
              </a:ext>
            </a:extLst>
          </p:cNvPr>
          <p:cNvSpPr/>
          <p:nvPr/>
        </p:nvSpPr>
        <p:spPr>
          <a:xfrm>
            <a:off x="7446913" y="3826077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2023</a:t>
            </a:r>
            <a:endParaRPr lang="en-US" sz="1000" dirty="0"/>
          </a:p>
        </p:txBody>
      </p:sp>
      <p:sp>
        <p:nvSpPr>
          <p:cNvPr id="1062" name="Text 30">
            <a:extLst>
              <a:ext uri="{FF2B5EF4-FFF2-40B4-BE49-F238E27FC236}">
                <a16:creationId xmlns:a16="http://schemas.microsoft.com/office/drawing/2014/main" id="{FEF57DCC-78D8-5C5A-1506-0E86CB07050A}"/>
              </a:ext>
            </a:extLst>
          </p:cNvPr>
          <p:cNvSpPr/>
          <p:nvPr/>
        </p:nvSpPr>
        <p:spPr>
          <a:xfrm>
            <a:off x="8025622" y="3840985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 Long</a:t>
            </a:r>
            <a:endParaRPr lang="en-US" sz="1100" dirty="0"/>
          </a:p>
        </p:txBody>
      </p:sp>
      <p:sp>
        <p:nvSpPr>
          <p:cNvPr id="1063" name="Shape 32">
            <a:extLst>
              <a:ext uri="{FF2B5EF4-FFF2-40B4-BE49-F238E27FC236}">
                <a16:creationId xmlns:a16="http://schemas.microsoft.com/office/drawing/2014/main" id="{A19D7EF2-3AE0-CFBB-0243-54D6A2922299}"/>
              </a:ext>
            </a:extLst>
          </p:cNvPr>
          <p:cNvSpPr/>
          <p:nvPr/>
        </p:nvSpPr>
        <p:spPr>
          <a:xfrm>
            <a:off x="7188595" y="4378231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64" name="Shape 33">
            <a:extLst>
              <a:ext uri="{FF2B5EF4-FFF2-40B4-BE49-F238E27FC236}">
                <a16:creationId xmlns:a16="http://schemas.microsoft.com/office/drawing/2014/main" id="{6D99DF61-5950-EBC5-A27F-01198AD879C5}"/>
              </a:ext>
            </a:extLst>
          </p:cNvPr>
          <p:cNvSpPr/>
          <p:nvPr/>
        </p:nvSpPr>
        <p:spPr>
          <a:xfrm>
            <a:off x="7270891" y="4490773"/>
            <a:ext cx="36576" cy="365760"/>
          </a:xfrm>
          <a:prstGeom prst="rect">
            <a:avLst/>
          </a:prstGeom>
          <a:solidFill>
            <a:srgbClr val="7A8BA6"/>
          </a:solidFill>
          <a:ln w="12700">
            <a:solidFill>
              <a:srgbClr val="7A8BA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65" name="Text 34">
            <a:extLst>
              <a:ext uri="{FF2B5EF4-FFF2-40B4-BE49-F238E27FC236}">
                <a16:creationId xmlns:a16="http://schemas.microsoft.com/office/drawing/2014/main" id="{1287DAFA-01BB-85D9-7C3E-0FF6F6FFD387}"/>
              </a:ext>
            </a:extLst>
          </p:cNvPr>
          <p:cNvSpPr/>
          <p:nvPr/>
        </p:nvSpPr>
        <p:spPr>
          <a:xfrm>
            <a:off x="7424407" y="4304729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2024</a:t>
            </a:r>
            <a:endParaRPr lang="en-US" sz="1000" dirty="0"/>
          </a:p>
        </p:txBody>
      </p:sp>
      <p:sp>
        <p:nvSpPr>
          <p:cNvPr id="1066" name="Text 35">
            <a:extLst>
              <a:ext uri="{FF2B5EF4-FFF2-40B4-BE49-F238E27FC236}">
                <a16:creationId xmlns:a16="http://schemas.microsoft.com/office/drawing/2014/main" id="{FA14EEDB-0E69-3603-1CAD-1AF515A77BD1}"/>
              </a:ext>
            </a:extLst>
          </p:cNvPr>
          <p:cNvSpPr/>
          <p:nvPr/>
        </p:nvSpPr>
        <p:spPr>
          <a:xfrm>
            <a:off x="8025622" y="4305341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100" dirty="0"/>
          </a:p>
        </p:txBody>
      </p:sp>
      <p:sp>
        <p:nvSpPr>
          <p:cNvPr id="1067" name="Shape 37">
            <a:extLst>
              <a:ext uri="{FF2B5EF4-FFF2-40B4-BE49-F238E27FC236}">
                <a16:creationId xmlns:a16="http://schemas.microsoft.com/office/drawing/2014/main" id="{F1B15641-7C52-C098-A4A7-5E55FEE3C119}"/>
              </a:ext>
            </a:extLst>
          </p:cNvPr>
          <p:cNvSpPr/>
          <p:nvPr/>
        </p:nvSpPr>
        <p:spPr>
          <a:xfrm>
            <a:off x="7188595" y="4856533"/>
            <a:ext cx="201168" cy="20116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68" name="Text 38">
            <a:extLst>
              <a:ext uri="{FF2B5EF4-FFF2-40B4-BE49-F238E27FC236}">
                <a16:creationId xmlns:a16="http://schemas.microsoft.com/office/drawing/2014/main" id="{E7FE2FFA-C306-0613-430F-951E94A814EB}"/>
              </a:ext>
            </a:extLst>
          </p:cNvPr>
          <p:cNvSpPr/>
          <p:nvPr/>
        </p:nvSpPr>
        <p:spPr>
          <a:xfrm>
            <a:off x="7462915" y="4783381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2024</a:t>
            </a:r>
            <a:endParaRPr lang="en-US" sz="1000" dirty="0"/>
          </a:p>
        </p:txBody>
      </p:sp>
      <p:sp>
        <p:nvSpPr>
          <p:cNvPr id="1069" name="Text 39">
            <a:extLst>
              <a:ext uri="{FF2B5EF4-FFF2-40B4-BE49-F238E27FC236}">
                <a16:creationId xmlns:a16="http://schemas.microsoft.com/office/drawing/2014/main" id="{6363786E-28C3-F104-840B-3B25720A6514}"/>
              </a:ext>
            </a:extLst>
          </p:cNvPr>
          <p:cNvSpPr/>
          <p:nvPr/>
        </p:nvSpPr>
        <p:spPr>
          <a:xfrm>
            <a:off x="8025622" y="47607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1100" dirty="0"/>
          </a:p>
        </p:txBody>
      </p:sp>
      <p:sp>
        <p:nvSpPr>
          <p:cNvPr id="1070" name="Text 11">
            <a:extLst>
              <a:ext uri="{FF2B5EF4-FFF2-40B4-BE49-F238E27FC236}">
                <a16:creationId xmlns:a16="http://schemas.microsoft.com/office/drawing/2014/main" id="{E1967713-77C1-F79D-FC59-3B67D4596E48}"/>
              </a:ext>
            </a:extLst>
          </p:cNvPr>
          <p:cNvSpPr/>
          <p:nvPr/>
        </p:nvSpPr>
        <p:spPr>
          <a:xfrm>
            <a:off x="6845957" y="2034446"/>
            <a:ext cx="2207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la familia LLaMA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071" name="Text 11">
            <a:extLst>
              <a:ext uri="{FF2B5EF4-FFF2-40B4-BE49-F238E27FC236}">
                <a16:creationId xmlns:a16="http://schemas.microsoft.com/office/drawing/2014/main" id="{D7EF5651-0A3E-698F-8ADB-79E9D90710D7}"/>
              </a:ext>
            </a:extLst>
          </p:cNvPr>
          <p:cNvSpPr/>
          <p:nvPr/>
        </p:nvSpPr>
        <p:spPr>
          <a:xfrm>
            <a:off x="209510" y="2048076"/>
            <a:ext cx="18752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1400" b="1" dirty="0">
                <a:solidFill>
                  <a:schemeClr val="accent1"/>
                </a:solidFill>
              </a:rPr>
              <a:t>Lanzamiento y Origen: </a:t>
            </a:r>
            <a:endParaRPr lang="en-US" sz="1400" b="1" dirty="0">
              <a:solidFill>
                <a:schemeClr val="accent1"/>
              </a:solidFill>
            </a:endParaRPr>
          </a:p>
        </p:txBody>
      </p:sp>
      <p:sp>
        <p:nvSpPr>
          <p:cNvPr id="1072" name="Shape 10">
            <a:extLst>
              <a:ext uri="{FF2B5EF4-FFF2-40B4-BE49-F238E27FC236}">
                <a16:creationId xmlns:a16="http://schemas.microsoft.com/office/drawing/2014/main" id="{F4887D49-5163-27FF-95CC-43555E56AFE9}"/>
              </a:ext>
            </a:extLst>
          </p:cNvPr>
          <p:cNvSpPr/>
          <p:nvPr/>
        </p:nvSpPr>
        <p:spPr>
          <a:xfrm>
            <a:off x="168996" y="2583534"/>
            <a:ext cx="2029968" cy="24724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080" name="Shape 11">
            <a:extLst>
              <a:ext uri="{FF2B5EF4-FFF2-40B4-BE49-F238E27FC236}">
                <a16:creationId xmlns:a16="http://schemas.microsoft.com/office/drawing/2014/main" id="{B219466E-1F56-15F2-4A66-87E547761A76}"/>
              </a:ext>
            </a:extLst>
          </p:cNvPr>
          <p:cNvSpPr/>
          <p:nvPr/>
        </p:nvSpPr>
        <p:spPr>
          <a:xfrm>
            <a:off x="147373" y="2512308"/>
            <a:ext cx="2029968" cy="640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82" name="Text 24">
            <a:extLst>
              <a:ext uri="{FF2B5EF4-FFF2-40B4-BE49-F238E27FC236}">
                <a16:creationId xmlns:a16="http://schemas.microsoft.com/office/drawing/2014/main" id="{CFAAA777-40BD-CC58-EA90-C0233B93A205}"/>
              </a:ext>
            </a:extLst>
          </p:cNvPr>
          <p:cNvSpPr/>
          <p:nvPr/>
        </p:nvSpPr>
        <p:spPr>
          <a:xfrm>
            <a:off x="248305" y="3205224"/>
            <a:ext cx="1811744" cy="89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ES" sz="1050" dirty="0">
                <a:solidFill>
                  <a:schemeClr val="bg2">
                    <a:lumMod val="50000"/>
                  </a:schemeClr>
                </a:solidFill>
              </a:rPr>
              <a:t>Desarrollado por </a:t>
            </a:r>
            <a:r>
              <a:rPr lang="es-ES" sz="1050" b="1" dirty="0">
                <a:solidFill>
                  <a:schemeClr val="bg2">
                    <a:lumMod val="50000"/>
                  </a:schemeClr>
                </a:solidFill>
              </a:rPr>
              <a:t>Meta AI</a:t>
            </a:r>
            <a:r>
              <a:rPr lang="es-ES" sz="1050" dirty="0">
                <a:solidFill>
                  <a:schemeClr val="bg2">
                    <a:lumMod val="50000"/>
                  </a:schemeClr>
                </a:solidFill>
              </a:rPr>
              <a:t> y lanzado en julio de 2023 en colaboración con Microsoft. Es el sucesor de </a:t>
            </a:r>
            <a:r>
              <a:rPr lang="es-ES" sz="1050" dirty="0" err="1">
                <a:solidFill>
                  <a:schemeClr val="bg2">
                    <a:lumMod val="50000"/>
                  </a:schemeClr>
                </a:solidFill>
              </a:rPr>
              <a:t>LLaMA</a:t>
            </a:r>
            <a:r>
              <a:rPr lang="es-ES" sz="1050" dirty="0">
                <a:solidFill>
                  <a:schemeClr val="bg2">
                    <a:lumMod val="50000"/>
                  </a:schemeClr>
                </a:solidFill>
              </a:rPr>
              <a:t> 1, con un </a:t>
            </a:r>
            <a:r>
              <a:rPr lang="es-ES" sz="1050" b="1" dirty="0">
                <a:solidFill>
                  <a:schemeClr val="bg2">
                    <a:lumMod val="50000"/>
                  </a:schemeClr>
                </a:solidFill>
              </a:rPr>
              <a:t>40% más de datos</a:t>
            </a:r>
            <a:r>
              <a:rPr lang="es-ES" sz="1050" dirty="0">
                <a:solidFill>
                  <a:schemeClr val="bg2">
                    <a:lumMod val="50000"/>
                  </a:schemeClr>
                </a:solidFill>
              </a:rPr>
              <a:t> de entrenamiento.</a:t>
            </a:r>
            <a:endParaRPr lang="en-US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87" name="Picture 16" descr="META crea una IA que identifica objetos dentro de imágenes - Social Futuro">
            <a:extLst>
              <a:ext uri="{FF2B5EF4-FFF2-40B4-BE49-F238E27FC236}">
                <a16:creationId xmlns:a16="http://schemas.microsoft.com/office/drawing/2014/main" id="{CFAD58A6-A1B5-3EA9-CE73-089E43D00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392" y="2669294"/>
            <a:ext cx="1844657" cy="450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6D6ED-9A9D-4513-1EAC-008D0C1D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87D497-46C3-DBD9-57C1-4AAD8306AAE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152035-9365-B44B-4283-869204B66F63}"/>
              </a:ext>
            </a:extLst>
          </p:cNvPr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TÉCNICA (</a:t>
            </a:r>
            <a:r>
              <a:rPr lang="es-ES" dirty="0" err="1">
                <a:solidFill>
                  <a:schemeClr val="bg1"/>
                </a:solidFill>
              </a:rPr>
              <a:t>LLaMA</a:t>
            </a:r>
            <a:r>
              <a:rPr lang="es-ES" dirty="0">
                <a:solidFill>
                  <a:schemeClr val="bg1"/>
                </a:solidFill>
              </a:rPr>
              <a:t> 2 es un modelo </a:t>
            </a:r>
            <a:r>
              <a:rPr lang="es-ES" dirty="0" err="1">
                <a:solidFill>
                  <a:schemeClr val="bg1"/>
                </a:solidFill>
              </a:rPr>
              <a:t>Decoder-Only</a:t>
            </a:r>
            <a:r>
              <a:rPr lang="es-ES" dirty="0">
                <a:solidFill>
                  <a:schemeClr val="bg1"/>
                </a:solidFill>
              </a:rPr>
              <a:t> basado en </a:t>
            </a:r>
            <a:r>
              <a:rPr lang="es-ES" dirty="0" err="1">
                <a:solidFill>
                  <a:schemeClr val="bg1"/>
                </a:solidFill>
              </a:rPr>
              <a:t>Transformer</a:t>
            </a:r>
            <a:r>
              <a:rPr lang="es-ES" dirty="0">
                <a:solidFill>
                  <a:schemeClr val="bg1"/>
                </a:solidFill>
              </a:rPr>
              <a:t>, lo que significa que está optimizado únicamente para generar texto. </a:t>
            </a: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2100" dirty="0"/>
          </a:p>
        </p:txBody>
      </p:sp>
      <p:pic>
        <p:nvPicPr>
          <p:cNvPr id="31" name="Imagen 30" descr="Diagrama&#10;&#10;El contenido generado por IA puede ser incorrecto.">
            <a:extLst>
              <a:ext uri="{FF2B5EF4-FFF2-40B4-BE49-F238E27FC236}">
                <a16:creationId xmlns:a16="http://schemas.microsoft.com/office/drawing/2014/main" id="{453F737C-BB20-1282-180C-A97FBB6B7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49" y="975066"/>
            <a:ext cx="4076993" cy="407699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BC66814-8E76-319C-4915-41EA04F7047D}"/>
              </a:ext>
            </a:extLst>
          </p:cNvPr>
          <p:cNvSpPr txBox="1"/>
          <p:nvPr/>
        </p:nvSpPr>
        <p:spPr>
          <a:xfrm>
            <a:off x="167439" y="1083317"/>
            <a:ext cx="206241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/>
              <a:t>1 ) El usuario escribe una pregunta. </a:t>
            </a:r>
            <a:r>
              <a:rPr lang="es-ES" sz="1100" dirty="0"/>
              <a:t>El modelo la limpia y prepara para procesarla.</a:t>
            </a:r>
          </a:p>
          <a:p>
            <a:pPr>
              <a:buNone/>
            </a:pPr>
            <a:r>
              <a:rPr lang="es-ES" sz="1100" i="1" dirty="0"/>
              <a:t>"Cuando tú escribes algo, primero se normaliza el texto antes de entrar al modelo."</a:t>
            </a:r>
            <a:endParaRPr lang="es-ES" sz="1100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F986A86-F0E8-258C-206A-2839262488D0}"/>
              </a:ext>
            </a:extLst>
          </p:cNvPr>
          <p:cNvCxnSpPr>
            <a:cxnSpLocks/>
          </p:cNvCxnSpPr>
          <p:nvPr/>
        </p:nvCxnSpPr>
        <p:spPr>
          <a:xfrm>
            <a:off x="2165684" y="1235242"/>
            <a:ext cx="1580148" cy="128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8124F32-51AE-3C62-8919-B9AF847DC594}"/>
              </a:ext>
            </a:extLst>
          </p:cNvPr>
          <p:cNvSpPr txBox="1"/>
          <p:nvPr/>
        </p:nvSpPr>
        <p:spPr>
          <a:xfrm>
            <a:off x="6589295" y="1299410"/>
            <a:ext cx="255470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/>
              <a:t>2) </a:t>
            </a:r>
            <a:r>
              <a:rPr lang="es-ES" sz="1100" b="1" dirty="0" err="1"/>
              <a:t>Tokenization</a:t>
            </a:r>
            <a:r>
              <a:rPr lang="es-ES" sz="1100" b="1" dirty="0"/>
              <a:t> &amp; </a:t>
            </a:r>
            <a:r>
              <a:rPr lang="es-ES" sz="1100" b="1" dirty="0" err="1"/>
              <a:t>Embedding</a:t>
            </a:r>
            <a:endParaRPr lang="es-ES" sz="1100" b="1" dirty="0"/>
          </a:p>
          <a:p>
            <a:pPr>
              <a:buNone/>
            </a:pPr>
            <a:r>
              <a:rPr lang="es-ES" sz="1100" dirty="0"/>
              <a:t>El texto se convierte en números porque las computadoras no entienden palabras.</a:t>
            </a:r>
          </a:p>
          <a:p>
            <a:pPr>
              <a:buNone/>
            </a:pPr>
            <a:r>
              <a:rPr lang="es-ES" sz="1100" i="1" dirty="0"/>
              <a:t>"La palabra 'hola' se convierte en un número como 1234, y así con todo el texto."</a:t>
            </a:r>
            <a:endParaRPr lang="es-ES" sz="11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1CD01E9-DF71-55E6-7D24-239497BE68FF}"/>
              </a:ext>
            </a:extLst>
          </p:cNvPr>
          <p:cNvCxnSpPr>
            <a:cxnSpLocks/>
          </p:cNvCxnSpPr>
          <p:nvPr/>
        </p:nvCxnSpPr>
        <p:spPr>
          <a:xfrm flipH="1">
            <a:off x="5037221" y="1424245"/>
            <a:ext cx="1612232" cy="429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9219915-C3C1-D4A9-EA2E-DB441202649B}"/>
              </a:ext>
            </a:extLst>
          </p:cNvPr>
          <p:cNvSpPr txBox="1"/>
          <p:nvPr/>
        </p:nvSpPr>
        <p:spPr>
          <a:xfrm>
            <a:off x="53641" y="2382012"/>
            <a:ext cx="248903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/>
              <a:t>3) </a:t>
            </a:r>
            <a:r>
              <a:rPr lang="es-ES" sz="1100" b="1" dirty="0" err="1"/>
              <a:t>Transformer</a:t>
            </a:r>
            <a:r>
              <a:rPr lang="es-ES" sz="1100" b="1" dirty="0"/>
              <a:t> </a:t>
            </a:r>
            <a:r>
              <a:rPr lang="es-ES" sz="1100" b="1" dirty="0" err="1"/>
              <a:t>Model</a:t>
            </a:r>
            <a:r>
              <a:rPr lang="es-ES" sz="1100" b="1" dirty="0"/>
              <a:t> (el corazón)</a:t>
            </a:r>
          </a:p>
          <a:p>
            <a:pPr>
              <a:buNone/>
            </a:pPr>
            <a:r>
              <a:rPr lang="es-ES" sz="1100" dirty="0"/>
              <a:t>Tiene dos partes internas: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100" b="1" dirty="0" err="1"/>
              <a:t>Self-Attention</a:t>
            </a:r>
            <a:r>
              <a:rPr lang="es-ES" sz="1100" b="1" dirty="0"/>
              <a:t>:</a:t>
            </a:r>
            <a:r>
              <a:rPr lang="es-ES" sz="1100" dirty="0"/>
              <a:t> el modelo decide qué palabras son importantes entre sí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100" b="1" dirty="0" err="1"/>
              <a:t>Feed</a:t>
            </a:r>
            <a:r>
              <a:rPr lang="es-ES" sz="1100" b="1" dirty="0"/>
              <a:t>-Forward Networks:</a:t>
            </a:r>
            <a:r>
              <a:rPr lang="es-ES" sz="1100" dirty="0"/>
              <a:t> procesa y transforma esa información</a:t>
            </a:r>
          </a:p>
          <a:p>
            <a:pPr>
              <a:buNone/>
            </a:pPr>
            <a:r>
              <a:rPr lang="es-ES" sz="1100" i="1" dirty="0"/>
              <a:t>"Es donde ocurre la 'magia', el modelo entiende el contexto y el significado."</a:t>
            </a:r>
            <a:endParaRPr lang="es-ES" sz="11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7BB4448-99E3-00FE-1C26-14EDFED2884B}"/>
              </a:ext>
            </a:extLst>
          </p:cNvPr>
          <p:cNvSpPr txBox="1"/>
          <p:nvPr/>
        </p:nvSpPr>
        <p:spPr>
          <a:xfrm>
            <a:off x="6740192" y="2571750"/>
            <a:ext cx="240380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/>
              <a:t>4) </a:t>
            </a:r>
            <a:r>
              <a:rPr lang="es-ES" sz="1100" b="1" dirty="0" err="1"/>
              <a:t>Model</a:t>
            </a:r>
            <a:r>
              <a:rPr lang="es-ES" sz="1100" b="1" dirty="0"/>
              <a:t> </a:t>
            </a:r>
            <a:r>
              <a:rPr lang="es-ES" sz="1100" b="1" dirty="0" err="1"/>
              <a:t>Parallelism</a:t>
            </a:r>
            <a:r>
              <a:rPr lang="es-ES" sz="1100" b="1" dirty="0"/>
              <a:t> + Hardware (GPU/TPU)</a:t>
            </a:r>
          </a:p>
          <a:p>
            <a:pPr>
              <a:buNone/>
            </a:pPr>
            <a:r>
              <a:rPr lang="es-ES" sz="1100" dirty="0"/>
              <a:t>Como el modelo es enorme (7 mil millones de parámetros), se divide entre varias </a:t>
            </a:r>
            <a:r>
              <a:rPr lang="es-ES" sz="1100" dirty="0" err="1"/>
              <a:t>GPUs</a:t>
            </a:r>
            <a:r>
              <a:rPr lang="es-ES" sz="1100" dirty="0"/>
              <a:t> para poder correrlo.</a:t>
            </a:r>
          </a:p>
          <a:p>
            <a:pPr>
              <a:buNone/>
            </a:pPr>
            <a:r>
              <a:rPr lang="es-ES" sz="1100" i="1" dirty="0"/>
              <a:t>"Por eso necesitamos GPU en </a:t>
            </a:r>
            <a:r>
              <a:rPr lang="es-ES" sz="1100" i="1" dirty="0" err="1"/>
              <a:t>Colab</a:t>
            </a:r>
            <a:r>
              <a:rPr lang="es-ES" sz="1100" i="1" dirty="0"/>
              <a:t>, sin ella es imposible correrlo."</a:t>
            </a:r>
            <a:endParaRPr lang="es-ES" sz="1100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7D2D296-8959-B4C2-8BB3-F43119AAC242}"/>
              </a:ext>
            </a:extLst>
          </p:cNvPr>
          <p:cNvCxnSpPr>
            <a:cxnSpLocks/>
          </p:cNvCxnSpPr>
          <p:nvPr/>
        </p:nvCxnSpPr>
        <p:spPr>
          <a:xfrm>
            <a:off x="6272463" y="2613633"/>
            <a:ext cx="489575" cy="42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442340A-65ED-D53B-813C-1AA0A04BA16D}"/>
              </a:ext>
            </a:extLst>
          </p:cNvPr>
          <p:cNvCxnSpPr>
            <a:cxnSpLocks/>
          </p:cNvCxnSpPr>
          <p:nvPr/>
        </p:nvCxnSpPr>
        <p:spPr>
          <a:xfrm flipV="1">
            <a:off x="6269100" y="2792416"/>
            <a:ext cx="492938" cy="221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D2DD784-B40A-F7B0-1B69-2CF5FE03503B}"/>
              </a:ext>
            </a:extLst>
          </p:cNvPr>
          <p:cNvSpPr txBox="1"/>
          <p:nvPr/>
        </p:nvSpPr>
        <p:spPr>
          <a:xfrm>
            <a:off x="53641" y="4004729"/>
            <a:ext cx="248903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/>
              <a:t>5) </a:t>
            </a:r>
            <a:r>
              <a:rPr lang="es-ES" sz="1100" b="1" dirty="0" err="1"/>
              <a:t>Post-processing</a:t>
            </a:r>
            <a:r>
              <a:rPr lang="es-ES" sz="1100" b="1" dirty="0"/>
              <a:t> &amp; </a:t>
            </a:r>
            <a:r>
              <a:rPr lang="es-ES" sz="1100" b="1" dirty="0" err="1"/>
              <a:t>Decoding</a:t>
            </a:r>
            <a:endParaRPr lang="es-ES" sz="1100" b="1" dirty="0"/>
          </a:p>
          <a:p>
            <a:pPr>
              <a:buNone/>
            </a:pPr>
            <a:r>
              <a:rPr lang="es-ES" sz="1100" dirty="0"/>
              <a:t>El modelo eligió los números más probables, ahora los convierte de vuelta a texto legible.</a:t>
            </a:r>
          </a:p>
          <a:p>
            <a:pPr>
              <a:buNone/>
            </a:pPr>
            <a:r>
              <a:rPr lang="es-ES" sz="1100" i="1" dirty="0"/>
              <a:t>"Los números que calculó el modelo se traducen de vuelta a palabras."</a:t>
            </a:r>
            <a:endParaRPr lang="es-ES" sz="11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6065A35-D019-6309-ECFD-5E33310A1069}"/>
              </a:ext>
            </a:extLst>
          </p:cNvPr>
          <p:cNvSpPr txBox="1"/>
          <p:nvPr/>
        </p:nvSpPr>
        <p:spPr>
          <a:xfrm>
            <a:off x="6686551" y="4089367"/>
            <a:ext cx="240380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/>
              <a:t>6) </a:t>
            </a:r>
            <a:r>
              <a:rPr lang="es-ES" sz="1100" b="1" dirty="0" err="1"/>
              <a:t>Generated</a:t>
            </a:r>
            <a:r>
              <a:rPr lang="es-ES" sz="1100" b="1" dirty="0"/>
              <a:t> Text Output</a:t>
            </a:r>
          </a:p>
          <a:p>
            <a:pPr>
              <a:buNone/>
            </a:pPr>
            <a:r>
              <a:rPr lang="es-ES" sz="1100" dirty="0"/>
              <a:t>La respuesta final que ves en pantalla.</a:t>
            </a:r>
          </a:p>
          <a:p>
            <a:pPr>
              <a:buNone/>
            </a:pPr>
            <a:r>
              <a:rPr lang="es-ES" sz="1100" i="1" dirty="0"/>
              <a:t>"Y aquí es donde vemos la respuesta, como la que generamos en nuestra demo."</a:t>
            </a:r>
            <a:endParaRPr lang="es-ES" sz="1100" dirty="0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0E377120-BEAD-8A06-59BA-3BE2D0CF7374}"/>
              </a:ext>
            </a:extLst>
          </p:cNvPr>
          <p:cNvCxnSpPr>
            <a:cxnSpLocks/>
          </p:cNvCxnSpPr>
          <p:nvPr/>
        </p:nvCxnSpPr>
        <p:spPr>
          <a:xfrm>
            <a:off x="5037221" y="4089367"/>
            <a:ext cx="1724817" cy="145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B63DA9B-84FA-65BE-5216-A7AD26E7C25D}"/>
              </a:ext>
            </a:extLst>
          </p:cNvPr>
          <p:cNvCxnSpPr>
            <a:cxnSpLocks/>
          </p:cNvCxnSpPr>
          <p:nvPr/>
        </p:nvCxnSpPr>
        <p:spPr>
          <a:xfrm flipH="1">
            <a:off x="1925053" y="3769895"/>
            <a:ext cx="2061410" cy="398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45FC7009-89FC-0BDE-AA61-2ECC9572D082}"/>
              </a:ext>
            </a:extLst>
          </p:cNvPr>
          <p:cNvCxnSpPr>
            <a:cxnSpLocks/>
          </p:cNvCxnSpPr>
          <p:nvPr/>
        </p:nvCxnSpPr>
        <p:spPr>
          <a:xfrm flipH="1" flipV="1">
            <a:off x="2350168" y="2871537"/>
            <a:ext cx="1572127" cy="200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9EF32C75-AE46-EF48-2666-E50195A38BD6}"/>
              </a:ext>
            </a:extLst>
          </p:cNvPr>
          <p:cNvCxnSpPr>
            <a:cxnSpLocks/>
          </p:cNvCxnSpPr>
          <p:nvPr/>
        </p:nvCxnSpPr>
        <p:spPr>
          <a:xfrm flipH="1" flipV="1">
            <a:off x="2251699" y="3243419"/>
            <a:ext cx="2320301" cy="77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10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"/>
            <a:ext cx="9144000" cy="597789"/>
          </a:xfrm>
          <a:prstGeom prst="rect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DE ENTRENAMIENTO (</a:t>
            </a:r>
            <a:r>
              <a:rPr lang="es-ES" sz="2400" dirty="0">
                <a:solidFill>
                  <a:schemeClr val="bg1"/>
                </a:solidFill>
              </a:rPr>
              <a:t>Construcción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4884" y="818388"/>
            <a:ext cx="4251960" cy="1909514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5" name="Shape 3"/>
          <p:cNvSpPr/>
          <p:nvPr/>
        </p:nvSpPr>
        <p:spPr>
          <a:xfrm>
            <a:off x="201168" y="804672"/>
            <a:ext cx="4251960" cy="640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38328" y="941832"/>
            <a:ext cx="530352" cy="530352"/>
          </a:xfrm>
          <a:prstGeom prst="ellipse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38328" y="941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1268" y="1019468"/>
            <a:ext cx="3355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</a:t>
            </a:r>
            <a:r>
              <a:rPr lang="en-US" sz="1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(“</a:t>
            </a:r>
            <a:r>
              <a:rPr lang="es-ES" sz="1300" dirty="0">
                <a:solidFill>
                  <a:srgbClr val="00B0F0"/>
                </a:solidFill>
              </a:rPr>
              <a:t>El aprendizaje masivo’’</a:t>
            </a:r>
            <a:r>
              <a:rPr lang="en-US" sz="1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usaron </a:t>
            </a:r>
            <a:r>
              <a:rPr lang="es-ES" sz="1300" dirty="0">
                <a:solidFill>
                  <a:srgbClr val="00B0F0"/>
                </a:solidFill>
              </a:rPr>
              <a:t>3.3 millones de horas de computadoras potentes (GPU)).</a:t>
            </a:r>
            <a:endParaRPr lang="en-US" sz="1300" dirty="0">
              <a:solidFill>
                <a:srgbClr val="00B0F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10896" y="1673352"/>
            <a:ext cx="146304" cy="146304"/>
          </a:xfrm>
          <a:prstGeom prst="ellipse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12064" y="1581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 tokens de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14016" y="1673352"/>
            <a:ext cx="146304" cy="146304"/>
          </a:xfrm>
          <a:prstGeom prst="ellipse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624328" y="16322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(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2022.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0896" y="2057400"/>
            <a:ext cx="146304" cy="146304"/>
          </a:xfrm>
          <a:prstGeom prst="ellipse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12064" y="1965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global: 4M tokens </a:t>
            </a:r>
            <a:r>
              <a:rPr lang="es-ES" sz="1000" dirty="0">
                <a:solidFill>
                  <a:srgbClr val="00B0F0"/>
                </a:solidFill>
              </a:rPr>
              <a:t>en un solo paso de memoria.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414016" y="2057400"/>
            <a:ext cx="146304" cy="146304"/>
          </a:xfrm>
          <a:prstGeom prst="ellipse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585642" y="1962267"/>
            <a:ext cx="1780266" cy="336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Meta.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0896" y="2402058"/>
            <a:ext cx="4023360" cy="182880"/>
          </a:xfrm>
          <a:prstGeom prst="rect">
            <a:avLst/>
          </a:prstGeom>
          <a:solidFill>
            <a:srgbClr val="1877F2">
              <a:alpha val="18000"/>
            </a:srgbClr>
          </a:solidFill>
          <a:ln w="12700">
            <a:solidFill>
              <a:srgbClr val="1877F2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29184" y="233813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next-token prediction (</a:t>
            </a:r>
            <a:r>
              <a:rPr lang="en-US" sz="9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autoregresivo</a:t>
            </a: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900" dirty="0">
                <a:solidFill>
                  <a:schemeClr val="bg1"/>
                </a:solidFill>
              </a:rPr>
              <a:t>predecir la palabra más probable</a:t>
            </a: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4251960" cy="1828800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20" name="Shape 18"/>
          <p:cNvSpPr/>
          <p:nvPr/>
        </p:nvSpPr>
        <p:spPr>
          <a:xfrm>
            <a:off x="4663440" y="804672"/>
            <a:ext cx="4251960" cy="64008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800600" y="941832"/>
            <a:ext cx="530352" cy="530352"/>
          </a:xfrm>
          <a:prstGeom prst="ellipse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s-ES">
              <a:solidFill>
                <a:schemeClr val="accent6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941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941832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(SFT) (‘’La </a:t>
            </a:r>
            <a:r>
              <a:rPr lang="en-US" sz="1300" b="1" dirty="0" err="1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</a:t>
            </a:r>
            <a:r>
              <a:rPr lang="en-US" sz="13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dirty="0" err="1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modales</a:t>
            </a:r>
            <a:r>
              <a:rPr lang="en-US" sz="13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’’, </a:t>
            </a:r>
            <a:r>
              <a:rPr lang="en-US" sz="1300" b="1" dirty="0" err="1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cambiamos</a:t>
            </a:r>
            <a:r>
              <a:rPr lang="en-US" sz="13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300" b="1" dirty="0" err="1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r>
              <a:rPr lang="en-US" sz="13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presicion</a:t>
            </a:r>
            <a:r>
              <a:rPr lang="en-US" sz="13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1673352"/>
            <a:ext cx="146304" cy="146304"/>
          </a:xfrm>
          <a:prstGeom prst="ellipse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s-ES">
              <a:solidFill>
                <a:schemeClr val="accent6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92624" y="16322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27,540 </a:t>
            </a:r>
            <a:r>
              <a:rPr lang="es-ES" sz="1000" b="1" dirty="0">
                <a:solidFill>
                  <a:srgbClr val="00B0F0"/>
                </a:solidFill>
              </a:rPr>
              <a:t>ejemplos perfectos</a:t>
            </a:r>
            <a:r>
              <a:rPr lang="es-ES" sz="1000" dirty="0">
                <a:solidFill>
                  <a:srgbClr val="00B0F0"/>
                </a:solidFill>
              </a:rPr>
              <a:t> escritos por humanos expertos.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76288" y="1673352"/>
            <a:ext cx="146304" cy="146304"/>
          </a:xfrm>
          <a:prstGeom prst="ellipse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077456" y="1581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calidad &gt; alta cantidad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73168" y="2057400"/>
            <a:ext cx="146304" cy="146304"/>
          </a:xfrm>
          <a:prstGeom prst="ellipse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s-ES">
              <a:solidFill>
                <a:srgbClr val="70AD47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92624" y="20299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de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(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genera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876288" y="2057400"/>
            <a:ext cx="146304" cy="146304"/>
          </a:xfrm>
          <a:prstGeom prst="ellipse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077456" y="1965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000" dirty="0">
                <a:solidFill>
                  <a:srgbClr val="00B0F0"/>
                </a:solidFill>
              </a:rPr>
              <a:t>70 millones de veces menor, que el paso anterior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73168" y="2395728"/>
            <a:ext cx="4023360" cy="182880"/>
          </a:xfrm>
          <a:prstGeom prst="rect">
            <a:avLst/>
          </a:prstGeom>
          <a:solidFill>
            <a:srgbClr val="42B883">
              <a:alpha val="18000"/>
            </a:srgbClr>
          </a:solidFill>
          <a:ln w="12700">
            <a:solidFill>
              <a:srgbClr val="42B88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791456" y="239572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Objetivo: seguir instrucciones de forma útil y segura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1168" y="2846774"/>
            <a:ext cx="4251960" cy="1901072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35" name="Shape 33"/>
          <p:cNvSpPr/>
          <p:nvPr/>
        </p:nvSpPr>
        <p:spPr>
          <a:xfrm>
            <a:off x="201168" y="2816352"/>
            <a:ext cx="42519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38328" y="2953512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338328" y="2953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34974" y="2953512"/>
            <a:ext cx="3488436" cy="56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— Reward Model (‘’</a:t>
            </a:r>
            <a:r>
              <a:rPr lang="en-US" sz="13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jueces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’’, </a:t>
            </a:r>
            <a:r>
              <a:rPr lang="en-US" sz="13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13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mala</a:t>
            </a:r>
            <a:r>
              <a:rPr lang="es-ES" sz="1400" dirty="0"/>
              <a:t>.</a:t>
            </a: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10896" y="3685032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512064" y="35935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humana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505456" y="3664019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2734056" y="359359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Anotadores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(personas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expertas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eligen mejor respuesta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10896" y="406908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530352" y="4049737"/>
            <a:ext cx="1828800" cy="399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reward models (valor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optimo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)=helpfulness (valor </a:t>
            </a:r>
            <a:r>
              <a:rPr lang="es-E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eficaz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safety ( valor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516007" y="404622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2715768" y="398959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1M ejemplos de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humanas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310896" y="453261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Reward model aprende qué respuestas prefieren los humanos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2862072"/>
            <a:ext cx="4251960" cy="1885774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4663440" y="2816352"/>
            <a:ext cx="42519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4800600" y="2953512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4800600" y="2953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40680" y="29535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Ghost Attention (</a:t>
            </a:r>
            <a:r>
              <a:rPr lang="en-US" sz="1300" b="1" dirty="0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refuerzo</a:t>
            </a: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b="1" dirty="0" err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773168" y="3685032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974336" y="36255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Optimization (PPO)</a:t>
            </a:r>
          </a:p>
          <a:p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s-E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el aprendizaje, de 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models ) </a:t>
            </a:r>
            <a:r>
              <a:rPr lang="en-US" sz="100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76288" y="3685032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7077456" y="35935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Attention: consistencia en contexto largo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773168" y="4069080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983479" y="3961110"/>
            <a:ext cx="2212145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RLHF: 5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RLHF</a:t>
            </a:r>
          </a:p>
          <a:p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s-ES" sz="1000" dirty="0">
                <a:solidFill>
                  <a:srgbClr val="00B0F0"/>
                </a:solidFill>
              </a:rPr>
              <a:t>refinamiento cíclico se entrenó 5 versiones sucesivas del modelo (v1 a v5)</a:t>
            </a:r>
            <a:r>
              <a:rPr lang="en-US" sz="100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76288" y="4069080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7077456" y="3977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red-teaming en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 </a:t>
            </a:r>
            <a:r>
              <a:rPr lang="es-ES" sz="100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ètico</a:t>
            </a:r>
            <a:r>
              <a:rPr lang="en-US" sz="10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>
              <a:solidFill>
                <a:srgbClr val="00B0F0"/>
              </a:solidFill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786884" y="4517136"/>
            <a:ext cx="4023360" cy="182880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63" name="Text 61"/>
          <p:cNvSpPr/>
          <p:nvPr/>
        </p:nvSpPr>
        <p:spPr>
          <a:xfrm>
            <a:off x="4837176" y="453366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Objetivo: optimizar política con señal del reward model (</a:t>
            </a:r>
            <a:r>
              <a:rPr lang="es-E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</a:t>
            </a:r>
            <a:r>
              <a:rPr lang="es-ES" sz="9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Evaluaciòn</a:t>
            </a: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14884" y="485089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 →  SFT  →  Reward Model  →  PPO + RLHF  =  LLaMA-2-Chat</a:t>
            </a:r>
            <a:endParaRPr lang="en-US" sz="1100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A507210F-023E-273D-748D-0094ED9E5B1B}"/>
              </a:ext>
            </a:extLst>
          </p:cNvPr>
          <p:cNvSpPr/>
          <p:nvPr/>
        </p:nvSpPr>
        <p:spPr>
          <a:xfrm>
            <a:off x="256032" y="4539908"/>
            <a:ext cx="4023360" cy="182880"/>
          </a:xfrm>
          <a:prstGeom prst="rect">
            <a:avLst/>
          </a:prstGeom>
          <a:solidFill>
            <a:srgbClr val="42B883">
              <a:alpha val="18000"/>
            </a:srgbClr>
          </a:solidFill>
          <a:ln w="12700">
            <a:solidFill>
              <a:srgbClr val="42B883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¿EN QUÉ SE USA? — Aplicaciones Reales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1828800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66928" cy="566928"/>
          </a:xfrm>
          <a:prstGeom prst="ellipse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26187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1261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&amp; DevOps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8328" y="1901952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LLaMA (fine-tune). Autocompletado, debugging, generación de tests. Usado por GitHub Copilot alternatives open-source.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72968" y="1097280"/>
            <a:ext cx="2743200" cy="1828800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3310128" y="1234440"/>
            <a:ext cx="566928" cy="5669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6187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261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(Meditron)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82696" y="1901952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de LLaMA 2 con papers PubMed y guías clínicas. EPFL + Yale Med. Mejora de 13% en benchmarks médicos.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17336" y="1097280"/>
            <a:ext cx="2743200" cy="1828800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6254496" y="1234440"/>
            <a:ext cx="566928" cy="5669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261872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22008" y="1261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Locales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27064" y="1901952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Llama.cpp: ejecutar LLaMA 2 en laptops sin GPU. Privacidad total, sin nube. Usado en apps como LM Studio, Ollama.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28600" y="3108960"/>
            <a:ext cx="2743200" cy="1828800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365760" y="3246120"/>
            <a:ext cx="566928" cy="566928"/>
          </a:xfrm>
          <a:prstGeom prst="ellipse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273552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33272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Empresarial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38328" y="3913632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chatbots con documentos privados. LangChain + FAISS + LLaMA 2. Alternativa open-source a ChatGPT Enterprise.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172968" y="3108960"/>
            <a:ext cx="2743200" cy="1828800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19"/>
          <p:cNvSpPr/>
          <p:nvPr/>
        </p:nvSpPr>
        <p:spPr>
          <a:xfrm>
            <a:off x="3310128" y="324612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73552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Científica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82696" y="3913632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BioLLaMA, ChemLLaMA. Resumen de papers, hipótesis, síntesis de literatura científica sin enviar datos a terceros.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17336" y="3108960"/>
            <a:ext cx="2743200" cy="1828800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3"/>
          <p:cNvSpPr/>
          <p:nvPr/>
        </p:nvSpPr>
        <p:spPr>
          <a:xfrm>
            <a:off x="6254496" y="3246120"/>
            <a:ext cx="566928" cy="56692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273552"/>
            <a:ext cx="512064" cy="5120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22008" y="32735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Personalizado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27064" y="3913632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C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permite fine-tuning en 1 GPU consumer. LoRA, PEFT, Alpaca. Empresas crean modelos propios desde LLaMA 2.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</a:t>
            </a: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:</a:t>
            </a:r>
            <a:endParaRPr lang="en-US" sz="1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34341CC-D500-A27E-A171-69DE04E4E961}"/>
              </a:ext>
            </a:extLst>
          </p:cNvPr>
          <p:cNvSpPr txBox="1"/>
          <p:nvPr/>
        </p:nvSpPr>
        <p:spPr>
          <a:xfrm>
            <a:off x="1796560" y="272534"/>
            <a:ext cx="5799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Token: </a:t>
            </a:r>
            <a:r>
              <a:rPr lang="es-ES" dirty="0" err="1">
                <a:solidFill>
                  <a:schemeClr val="bg1"/>
                </a:solidFill>
              </a:rPr>
              <a:t>hf_xxxx...TOKEN_OCULTO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0BE4AF60-EA4E-856B-93EB-104745412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6" y="914400"/>
            <a:ext cx="4736123" cy="2320768"/>
          </a:xfrm>
          <a:prstGeom prst="rect">
            <a:avLst/>
          </a:prstGeom>
        </p:spPr>
      </p:pic>
      <p:pic>
        <p:nvPicPr>
          <p:cNvPr id="10" name="Imagen 9" descr="Imagen que contiene Escala de tiempo&#10;&#10;El contenido generado por IA puede ser incorrecto.">
            <a:extLst>
              <a:ext uri="{FF2B5EF4-FFF2-40B4-BE49-F238E27FC236}">
                <a16:creationId xmlns:a16="http://schemas.microsoft.com/office/drawing/2014/main" id="{FBBAF810-83CA-549D-1329-7F6B90EEF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355" y="914400"/>
            <a:ext cx="4098004" cy="2761334"/>
          </a:xfrm>
          <a:prstGeom prst="rect">
            <a:avLst/>
          </a:prstGeom>
        </p:spPr>
      </p:pic>
      <p:pic>
        <p:nvPicPr>
          <p:cNvPr id="12" name="Imagen 1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16CEB07C-1F00-805B-3D8A-91BAF96921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998" y="3839245"/>
            <a:ext cx="6497560" cy="1197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VENTAJAS  ·  LIMITACIONES  ·  REFERENCIAS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22960"/>
            <a:ext cx="4206240" cy="1325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274320" y="822960"/>
            <a:ext cx="64008" cy="1325880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601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914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Públicos (Open Weights)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493008" y="914400"/>
            <a:ext cx="868680" cy="457200"/>
          </a:xfrm>
          <a:prstGeom prst="roundRect">
            <a:avLst>
              <a:gd name="adj" fmla="val 10909"/>
            </a:avLst>
          </a:prstGeom>
          <a:solidFill>
            <a:srgbClr val="42B883">
              <a:alpha val="75000"/>
            </a:srgbClr>
          </a:solidFill>
          <a:ln w="12700">
            <a:solidFill>
              <a:srgbClr val="42B88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>
            <a:off x="3493008" y="9144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93008" y="11521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11480" y="135331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 científica total. La comunidad puede auditar, estudiar y mejorar el modelo. Crítico para investigación académica.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09160" y="822960"/>
            <a:ext cx="4206240" cy="1325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4709160" y="822960"/>
            <a:ext cx="64008" cy="1325880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9601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0" y="914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Accesible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927848" y="914400"/>
            <a:ext cx="868680" cy="457200"/>
          </a:xfrm>
          <a:prstGeom prst="roundRect">
            <a:avLst>
              <a:gd name="adj" fmla="val 10909"/>
            </a:avLst>
          </a:prstGeom>
          <a:solidFill>
            <a:srgbClr val="1877F2">
              <a:alpha val="75000"/>
            </a:srgbClr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3"/>
          <p:cNvSpPr/>
          <p:nvPr/>
        </p:nvSpPr>
        <p:spPr>
          <a:xfrm>
            <a:off x="7927848" y="9144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QLoRA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927848" y="11521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GPU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4846320" y="135331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permite adaptar LLaMA 2 7B en una sola GPU consumer (24GB VRAM). Democratiza el entrenamiento de modelos especializados.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2240280"/>
            <a:ext cx="4206240" cy="1325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7"/>
          <p:cNvSpPr/>
          <p:nvPr/>
        </p:nvSpPr>
        <p:spPr>
          <a:xfrm>
            <a:off x="274320" y="2240280"/>
            <a:ext cx="64008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3774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2331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de Usuarios Meta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493008" y="2331720"/>
            <a:ext cx="868680" cy="457200"/>
          </a:xfrm>
          <a:prstGeom prst="roundRect">
            <a:avLst>
              <a:gd name="adj" fmla="val 10909"/>
            </a:avLst>
          </a:prstGeom>
          <a:solidFill>
            <a:srgbClr val="F5A623">
              <a:alpha val="7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0"/>
          <p:cNvSpPr/>
          <p:nvPr/>
        </p:nvSpPr>
        <p:spPr>
          <a:xfrm>
            <a:off x="3493008" y="2331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493008" y="25694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411480" y="27614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Preentrenado exclusivamente con datos públicos. Facebook, Instagram, WhatsApp NO fueron incluidos. Privacidad clara.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709160" y="2240280"/>
            <a:ext cx="4206240" cy="1325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4"/>
          <p:cNvSpPr/>
          <p:nvPr/>
        </p:nvSpPr>
        <p:spPr>
          <a:xfrm>
            <a:off x="4709160" y="2240280"/>
            <a:ext cx="64008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37744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86400" y="2331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Multilingüe Base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7927848" y="2331720"/>
            <a:ext cx="868680" cy="457200"/>
          </a:xfrm>
          <a:prstGeom prst="roundRect">
            <a:avLst>
              <a:gd name="adj" fmla="val 10909"/>
            </a:avLst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27"/>
          <p:cNvSpPr/>
          <p:nvPr/>
        </p:nvSpPr>
        <p:spPr>
          <a:xfrm>
            <a:off x="7927848" y="23317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27+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927848" y="25694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</a:t>
            </a:r>
            <a:endParaRPr lang="en-US" sz="700" dirty="0"/>
          </a:p>
        </p:txBody>
      </p:sp>
      <p:sp>
        <p:nvSpPr>
          <p:cNvPr id="36" name="Text 29"/>
          <p:cNvSpPr/>
          <p:nvPr/>
        </p:nvSpPr>
        <p:spPr>
          <a:xfrm>
            <a:off x="4846320" y="27614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optimizado en inglés, el preentrenamiento incluye datos en 27 idiomas. Base para fine-tunes multilingües.</a:t>
            </a:r>
            <a:endParaRPr lang="en-US" sz="1100" dirty="0"/>
          </a:p>
        </p:txBody>
      </p:sp>
      <p:sp>
        <p:nvSpPr>
          <p:cNvPr id="37" name="Rectangle 36"/>
          <p:cNvSpPr/>
          <p:nvPr/>
        </p:nvSpPr>
        <p:spPr>
          <a:xfrm>
            <a:off x="274320" y="3657600"/>
            <a:ext cx="8595360" cy="365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FFA500"/>
                </a:solidFill>
              </a:rPr>
              <a:t>⚠  Limitaciones clave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041648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02020"/>
                </a:solidFill>
              </a:rPr>
              <a:t>• Contexto 4K tokens (vs 128K GPT-4)</a:t>
            </a:r>
          </a:p>
          <a:p>
            <a:r>
              <a:rPr sz="1000">
                <a:solidFill>
                  <a:srgbClr val="202020"/>
                </a:solidFill>
              </a:rPr>
              <a:t>• 70B necesita 40-80GB VRAM</a:t>
            </a:r>
          </a:p>
          <a:p>
            <a:r>
              <a:rPr sz="1000">
                <a:solidFill>
                  <a:srgbClr val="202020"/>
                </a:solidFill>
              </a:rPr>
              <a:t>• Superado por LLaMA 3.1 en 2024</a:t>
            </a:r>
          </a:p>
          <a:p>
            <a:r>
              <a:rPr sz="1000">
                <a:solidFill>
                  <a:srgbClr val="202020"/>
                </a:solidFill>
              </a:rPr>
              <a:t>• No es open-source según OSI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370332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202020"/>
                </a:solidFill>
              </a:rPr>
              <a:t>📚  Referencias (arXiv)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4041648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02020"/>
                </a:solidFill>
              </a:rPr>
              <a:t>• Touvron et al. — arXiv:2307.09288 (LLaMA 2)</a:t>
            </a:r>
          </a:p>
          <a:p>
            <a:r>
              <a:rPr sz="900">
                <a:solidFill>
                  <a:srgbClr val="202020"/>
                </a:solidFill>
              </a:rPr>
              <a:t>• Touvron et al. — arXiv:2302.13971 (LLaMA 1)</a:t>
            </a:r>
          </a:p>
          <a:p>
            <a:r>
              <a:rPr sz="900">
                <a:solidFill>
                  <a:srgbClr val="202020"/>
                </a:solidFill>
              </a:rPr>
              <a:t>• Rozière et al. — arXiv:2308.12950 (Code LLaMA)</a:t>
            </a:r>
          </a:p>
          <a:p>
            <a:r>
              <a:rPr sz="900">
                <a:solidFill>
                  <a:srgbClr val="202020"/>
                </a:solidFill>
              </a:rPr>
              <a:t>• Vaswani et al. — NeurIPS 2017 (Attention)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3D7C"/>
          </a:solidFill>
          <a:ln w="12700">
            <a:solidFill>
              <a:srgbClr val="0A3D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DESVENTAJAS Y LIMITACIONES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41248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051560"/>
            <a:ext cx="4224528" cy="3822192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228600" y="1051560"/>
            <a:ext cx="422452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65760" y="1170432"/>
            <a:ext cx="1554480" cy="347472"/>
          </a:xfrm>
          <a:prstGeom prst="roundRect">
            <a:avLst>
              <a:gd name="adj" fmla="val 1842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65760" y="11704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73352"/>
            <a:ext cx="3931920" cy="676656"/>
          </a:xfrm>
          <a:prstGeom prst="rect">
            <a:avLst/>
          </a:prstGeom>
          <a:solidFill>
            <a:srgbClr val="0A1F3A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57200" y="174650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04088" y="17099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limitado (4K tokens)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4088" y="19659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200K de Claude o 128K de GPT-4. Documentos largos requieren chunking con pérdida de contexto.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432304"/>
            <a:ext cx="3931920" cy="676656"/>
          </a:xfrm>
          <a:prstGeom prst="rect">
            <a:avLst/>
          </a:prstGeom>
          <a:solidFill>
            <a:srgbClr val="0A1F3A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457200" y="250545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04088" y="24688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requiere hardware serio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4088" y="27249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necesita 40–80GB de VRAM. Modelos 7B/13B son más accesibles pero menos capaces.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191256"/>
            <a:ext cx="3931920" cy="676656"/>
          </a:xfrm>
          <a:prstGeom prst="rect">
            <a:avLst/>
          </a:prstGeom>
          <a:solidFill>
            <a:srgbClr val="0A1F3A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457200" y="326440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704088" y="32278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Superado por LLaMA 3 / 3.1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" y="34838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(70B, 405B) con contexto de 128K y mejor rendimiento lo hace obsoleto en 2024.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3950208"/>
            <a:ext cx="3931920" cy="676656"/>
          </a:xfrm>
          <a:prstGeom prst="rect">
            <a:avLst/>
          </a:prstGeom>
          <a:solidFill>
            <a:srgbClr val="0A1F3A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457200" y="40233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704088" y="398678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texto (no multimodal)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4088" y="42428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visión nativa. Llava fue un fine-tune de la comunidad. No procesa imágenes directamente.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90872" y="1051560"/>
            <a:ext cx="4224528" cy="3822192"/>
          </a:xfrm>
          <a:prstGeom prst="rect">
            <a:avLst/>
          </a:prstGeom>
          <a:solidFill>
            <a:srgbClr val="0D22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4690872" y="1051560"/>
            <a:ext cx="422452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4828032" y="1170432"/>
            <a:ext cx="1554480" cy="347472"/>
          </a:xfrm>
          <a:prstGeom prst="roundRect">
            <a:avLst>
              <a:gd name="adj" fmla="val 1842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4828032" y="11704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Alineamiento y Legal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28032" y="1673352"/>
            <a:ext cx="3931920" cy="676656"/>
          </a:xfrm>
          <a:prstGeom prst="rect">
            <a:avLst/>
          </a:prstGeom>
          <a:solidFill>
            <a:srgbClr val="0A1F3A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4919472" y="1746504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5166360" y="17099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verdaderamente open-source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166360" y="19659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rechaza llamarlo open-source. Licencia prohíbe a empresas con +700M usuarios activos diarios.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828032" y="2432304"/>
            <a:ext cx="3931920" cy="676656"/>
          </a:xfrm>
          <a:prstGeom prst="rect">
            <a:avLst/>
          </a:prstGeom>
          <a:solidFill>
            <a:srgbClr val="0A1F3A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1"/>
          <p:cNvSpPr/>
          <p:nvPr/>
        </p:nvSpPr>
        <p:spPr>
          <a:xfrm>
            <a:off x="4919472" y="2505456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2"/>
          <p:cNvSpPr/>
          <p:nvPr/>
        </p:nvSpPr>
        <p:spPr>
          <a:xfrm>
            <a:off x="5166360" y="24688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 más fáciles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66360" y="27249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Claude o GPT-4. Al ser open weights, la comunidad ha publicado versiones 'desbloqueadas'.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828032" y="3191256"/>
            <a:ext cx="3931920" cy="676656"/>
          </a:xfrm>
          <a:prstGeom prst="rect">
            <a:avLst/>
          </a:prstGeom>
          <a:solidFill>
            <a:srgbClr val="0A1F3A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5"/>
          <p:cNvSpPr/>
          <p:nvPr/>
        </p:nvSpPr>
        <p:spPr>
          <a:xfrm>
            <a:off x="4919472" y="3264408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6"/>
          <p:cNvSpPr/>
          <p:nvPr/>
        </p:nvSpPr>
        <p:spPr>
          <a:xfrm>
            <a:off x="5166360" y="32278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anglocéntrico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166360" y="34838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inglés. 27 otros idiomas tienen calidad significativamente inferior al español o francés.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828032" y="3950208"/>
            <a:ext cx="3931920" cy="676656"/>
          </a:xfrm>
          <a:prstGeom prst="rect">
            <a:avLst/>
          </a:prstGeom>
          <a:solidFill>
            <a:srgbClr val="0A1F3A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39"/>
          <p:cNvSpPr/>
          <p:nvPr/>
        </p:nvSpPr>
        <p:spPr>
          <a:xfrm>
            <a:off x="4919472" y="402336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0"/>
          <p:cNvSpPr/>
          <p:nvPr/>
        </p:nvSpPr>
        <p:spPr>
          <a:xfrm>
            <a:off x="5166360" y="398678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 documentadas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166360" y="42428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todo LLM, genera información incorrecta con aparente confianza. Critical en aplicaciones médicas o legales.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BIBLIOGRÁFICAS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9728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7432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14400" y="1097280"/>
            <a:ext cx="7955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005840" y="11064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2: Open Foundation and Fine-Tuned Chat Models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13167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Touvron, H. et al. (Meta AI, 2023)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355080" y="1188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arXiv:2307.09288 — paper principal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16459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274320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4400" y="1645920"/>
            <a:ext cx="7955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1005840" y="165506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LLaMA: Open and Efficient Foundation Language Models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" y="1865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Touvron, H. et al. (Meta AI, 2023)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355080" y="1737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arXiv:2302.13971 — LLaMA 1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19456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274320" y="2194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14400" y="2194560"/>
            <a:ext cx="7955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1005840" y="220370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Llama: Open Foundation Models for Code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24140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Rozière, B. et al. (Meta AI, 2023)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55080" y="22860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arXiv:2308.12950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274320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274320" y="2743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14400" y="2743200"/>
            <a:ext cx="7955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1005840" y="275234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05840" y="29626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A. et al. (Google, 2017)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355080" y="2834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2017 — Transformer base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DD33E-FF06-1614-197D-3DE87A7B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F9280987-6326-CFB9-F77E-DC3C2BD14B23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807353-B82A-41CB-FDC5-E7B352855152}"/>
              </a:ext>
            </a:extLst>
          </p:cNvPr>
          <p:cNvSpPr/>
          <p:nvPr/>
        </p:nvSpPr>
        <p:spPr>
          <a:xfrm>
            <a:off x="502920" y="292608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Diccionario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chemeClr val="bg1"/>
                </a:solidFill>
              </a:rPr>
              <a:t>La </a:t>
            </a:r>
            <a:r>
              <a:rPr lang="es-ES" sz="1100" b="1" dirty="0">
                <a:solidFill>
                  <a:schemeClr val="bg1"/>
                </a:solidFill>
              </a:rPr>
              <a:t>B</a:t>
            </a:r>
            <a:r>
              <a:rPr lang="es-ES" sz="1100" dirty="0">
                <a:solidFill>
                  <a:schemeClr val="bg1"/>
                </a:solidFill>
              </a:rPr>
              <a:t> significa </a:t>
            </a:r>
            <a:r>
              <a:rPr lang="es-ES" sz="1100" b="1" dirty="0">
                <a:solidFill>
                  <a:schemeClr val="bg1"/>
                </a:solidFill>
              </a:rPr>
              <a:t>billones de parámetros</a:t>
            </a:r>
            <a:r>
              <a:rPr lang="es-ES" sz="1100" dirty="0">
                <a:solidFill>
                  <a:schemeClr val="bg1"/>
                </a:solidFill>
              </a:rPr>
              <a:t>. Un </a:t>
            </a:r>
            <a:r>
              <a:rPr lang="es-ES" sz="1100" b="1" dirty="0">
                <a:solidFill>
                  <a:schemeClr val="bg1"/>
                </a:solidFill>
              </a:rPr>
              <a:t>parámetro</a:t>
            </a:r>
            <a:r>
              <a:rPr lang="es-ES" sz="1100" dirty="0">
                <a:solidFill>
                  <a:schemeClr val="bg1"/>
                </a:solidFill>
              </a:rPr>
              <a:t> es básicamente un número dentro del modelo que le ayuda a tomar decisiones.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chemeClr val="bg1"/>
                </a:solidFill>
              </a:rPr>
              <a:t>¿Definición de pesos? </a:t>
            </a:r>
            <a:r>
              <a:rPr lang="es-ES" sz="1100" dirty="0">
                <a:solidFill>
                  <a:schemeClr val="bg1"/>
                </a:solidFill>
              </a:rPr>
              <a:t>Los </a:t>
            </a:r>
            <a:r>
              <a:rPr lang="es-ES" sz="1100" b="1" dirty="0">
                <a:solidFill>
                  <a:schemeClr val="bg1"/>
                </a:solidFill>
              </a:rPr>
              <a:t>pesos</a:t>
            </a:r>
            <a:r>
              <a:rPr lang="es-ES" sz="1100" dirty="0">
                <a:solidFill>
                  <a:schemeClr val="bg1"/>
                </a:solidFill>
              </a:rPr>
              <a:t> son los </a:t>
            </a:r>
            <a:r>
              <a:rPr lang="es-ES" sz="1100" b="1" dirty="0">
                <a:solidFill>
                  <a:schemeClr val="bg1"/>
                </a:solidFill>
              </a:rPr>
              <a:t>números internos del modelo</a:t>
            </a:r>
            <a:r>
              <a:rPr lang="es-ES" sz="1100" dirty="0">
                <a:solidFill>
                  <a:schemeClr val="bg1"/>
                </a:solidFill>
              </a:rPr>
              <a:t> que le permiten aprender patrones del lenguaje.</a:t>
            </a:r>
            <a:br>
              <a:rPr lang="es-ES" sz="1100" dirty="0">
                <a:solidFill>
                  <a:schemeClr val="bg1"/>
                </a:solidFill>
              </a:rPr>
            </a:br>
            <a:r>
              <a:rPr lang="es-ES" sz="1100" dirty="0">
                <a:solidFill>
                  <a:schemeClr val="bg1"/>
                </a:solidFill>
              </a:rPr>
              <a:t>Son como “las conexiones de su cerebro artificial” que determinan cómo responde y genera texto.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chemeClr val="bg1"/>
                </a:solidFill>
              </a:rPr>
              <a:t>RLHF</a:t>
            </a:r>
            <a:r>
              <a:rPr lang="es-ES" sz="1100" dirty="0">
                <a:solidFill>
                  <a:schemeClr val="bg1"/>
                </a:solidFill>
              </a:rPr>
              <a:t> significa </a:t>
            </a:r>
            <a:r>
              <a:rPr lang="es-ES" sz="1100" b="1" dirty="0" err="1">
                <a:solidFill>
                  <a:schemeClr val="bg1"/>
                </a:solidFill>
              </a:rPr>
              <a:t>Reinforcement</a:t>
            </a:r>
            <a:r>
              <a:rPr lang="es-ES" sz="1100" b="1" dirty="0">
                <a:solidFill>
                  <a:schemeClr val="bg1"/>
                </a:solidFill>
              </a:rPr>
              <a:t> </a:t>
            </a:r>
            <a:r>
              <a:rPr lang="es-ES" sz="1100" b="1" dirty="0" err="1">
                <a:solidFill>
                  <a:schemeClr val="bg1"/>
                </a:solidFill>
              </a:rPr>
              <a:t>Learning</a:t>
            </a:r>
            <a:r>
              <a:rPr lang="es-ES" sz="1100" b="1" dirty="0">
                <a:solidFill>
                  <a:schemeClr val="bg1"/>
                </a:solidFill>
              </a:rPr>
              <a:t> </a:t>
            </a:r>
            <a:r>
              <a:rPr lang="es-ES" sz="1100" b="1" dirty="0" err="1">
                <a:solidFill>
                  <a:schemeClr val="bg1"/>
                </a:solidFill>
              </a:rPr>
              <a:t>from</a:t>
            </a:r>
            <a:r>
              <a:rPr lang="es-ES" sz="1100" b="1" dirty="0">
                <a:solidFill>
                  <a:schemeClr val="bg1"/>
                </a:solidFill>
              </a:rPr>
              <a:t> Human </a:t>
            </a:r>
            <a:r>
              <a:rPr lang="es-ES" sz="1100" b="1" dirty="0" err="1">
                <a:solidFill>
                  <a:schemeClr val="bg1"/>
                </a:solidFill>
              </a:rPr>
              <a:t>Feedback</a:t>
            </a:r>
            <a:r>
              <a:rPr lang="es-ES" sz="1100" dirty="0">
                <a:solidFill>
                  <a:schemeClr val="bg1"/>
                </a:solidFill>
              </a:rPr>
              <a:t> (Aprendizaje por Refuerzo a partir de la Retroalimentación Humana).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chemeClr val="bg1"/>
                </a:solidFill>
              </a:rPr>
              <a:t>Los "anotadores" son personas (expertos contratados por Meta) que siguen guías muy estrictas para evaluar.</a:t>
            </a:r>
          </a:p>
          <a:p>
            <a:r>
              <a:rPr lang="es-ES" sz="1100" dirty="0">
                <a:solidFill>
                  <a:schemeClr val="bg1"/>
                </a:solidFill>
              </a:rPr>
              <a:t>No solo eligen la mejor, sino que a veces indican </a:t>
            </a:r>
            <a:r>
              <a:rPr lang="es-ES" sz="1100" b="1" dirty="0">
                <a:solidFill>
                  <a:schemeClr val="bg1"/>
                </a:solidFill>
              </a:rPr>
              <a:t>por cuánto</a:t>
            </a:r>
            <a:r>
              <a:rPr lang="es-ES" sz="1100" dirty="0">
                <a:solidFill>
                  <a:schemeClr val="bg1"/>
                </a:solidFill>
              </a:rPr>
              <a:t> es mejor (si es "mucho mejor" o "ligeramente mejor").</a:t>
            </a:r>
          </a:p>
          <a:p>
            <a:endParaRPr lang="es-ES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chemeClr val="bg1"/>
                </a:solidFill>
              </a:rPr>
              <a:t> </a:t>
            </a:r>
            <a:r>
              <a:rPr lang="es-ES" sz="1100" dirty="0" err="1">
                <a:solidFill>
                  <a:schemeClr val="bg1"/>
                </a:solidFill>
              </a:rPr>
              <a:t>reward</a:t>
            </a:r>
            <a:r>
              <a:rPr lang="es-ES" sz="1100" dirty="0">
                <a:solidFill>
                  <a:schemeClr val="bg1"/>
                </a:solidFill>
              </a:rPr>
              <a:t>: premio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bg1"/>
              </a:solidFill>
            </a:endParaRPr>
          </a:p>
          <a:p>
            <a:endParaRPr lang="es-ES" sz="1100" dirty="0">
              <a:solidFill>
                <a:schemeClr val="bg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2820E3-F4BD-59E0-6E9A-C613E7514B8B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 de Datos · IA Generativa · Seminario Foundation Models · 2026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44463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DD33E-FF06-1614-197D-3DE87A7B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F9280987-6326-CFB9-F77E-DC3C2BD14B23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2820E3-F4BD-59E0-6E9A-C613E7514B8B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 de Datos · IA Generativa · Seminario Foundation Models · 2026</a:t>
            </a:r>
            <a:endParaRPr lang="en-US" sz="1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93BC3B9-7BA9-4D67-B4B6-2D3CA4E38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16" y="412750"/>
            <a:ext cx="3934491" cy="32448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EC364F7-EAF1-41B8-8D16-E58F7C308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149" y="130175"/>
            <a:ext cx="4862035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95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DD33E-FF06-1614-197D-3DE87A7B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F9280987-6326-CFB9-F77E-DC3C2BD14B23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2820E3-F4BD-59E0-6E9A-C613E7514B8B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 de Datos · IA Generativa · Seminario Foundation Models · 2026</a:t>
            </a:r>
            <a:endParaRPr lang="en-US" sz="1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99D8EC1-FF55-4A63-BE87-3079C4828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900"/>
            <a:ext cx="4805461" cy="30099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6357EDD-119B-4A3A-806B-38BF8F2F1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986" y="88900"/>
            <a:ext cx="4921513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37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DD33E-FF06-1614-197D-3DE87A7B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F9280987-6326-CFB9-F77E-DC3C2BD14B23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2820E3-F4BD-59E0-6E9A-C613E7514B8B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 de Datos · IA Generativa · Seminario Foundation Models · 2026</a:t>
            </a:r>
            <a:endParaRPr lang="en-US" sz="1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D28183F-D245-4BFC-861D-A3F5423E9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865" y="285750"/>
            <a:ext cx="4488366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36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DD33E-FF06-1614-197D-3DE87A7B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F9280987-6326-CFB9-F77E-DC3C2BD14B23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2820E3-F4BD-59E0-6E9A-C613E7514B8B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 de Datos · IA Generativa · Seminario Foundation Models · 2026</a:t>
            </a:r>
            <a:endParaRPr lang="en-US" sz="1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EE9EF41-C1C5-407C-8F1B-57A327CCB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18" y="63500"/>
            <a:ext cx="4202637" cy="36131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729BDC8-6E69-4E1B-8093-3D2BD497B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698" y="891081"/>
            <a:ext cx="4935252" cy="376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45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DD33E-FF06-1614-197D-3DE87A7B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F9280987-6326-CFB9-F77E-DC3C2BD14B23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2820E3-F4BD-59E0-6E9A-C613E7514B8B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 de Datos · IA Generativa · Seminario Foundation Models · 2026</a:t>
            </a:r>
            <a:endParaRPr lang="en-US" sz="1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1356CC4-AE56-49AA-A6D2-7EFC13856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221" y="362154"/>
            <a:ext cx="3893030" cy="38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58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DD33E-FF06-1614-197D-3DE87A7B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F9280987-6326-CFB9-F77E-DC3C2BD14B23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2820E3-F4BD-59E0-6E9A-C613E7514B8B}"/>
              </a:ext>
            </a:extLst>
          </p:cNvPr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Ciencia de Datos · IA Generativa · Seminario Foundation Models · 2026</a:t>
            </a:r>
            <a:endParaRPr lang="en-US" sz="10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47476E2-EE2A-4A25-A25E-1B4088741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7" y="109218"/>
            <a:ext cx="4525006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92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1592</Words>
  <Application>Microsoft Office PowerPoint</Application>
  <PresentationFormat>Presentación en pantalla (16:9)</PresentationFormat>
  <Paragraphs>191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LLaMA 2 — Foundation Model</dc:title>
  <dc:subject>PptxGenJS Presentation</dc:subject>
  <dc:creator>PptxGenJS</dc:creator>
  <cp:lastModifiedBy>Jeison</cp:lastModifiedBy>
  <cp:revision>8</cp:revision>
  <dcterms:created xsi:type="dcterms:W3CDTF">2026-02-21T21:46:18Z</dcterms:created>
  <dcterms:modified xsi:type="dcterms:W3CDTF">2026-02-28T15:49:57Z</dcterms:modified>
</cp:coreProperties>
</file>